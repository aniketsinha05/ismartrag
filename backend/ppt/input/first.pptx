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8" r:id="rId7"/>
    <p:sldId id="270" r:id="rId8"/>
    <p:sldId id="271" r:id="rId9"/>
    <p:sldId id="263" r:id="rId10"/>
    <p:sldId id="264" r:id="rId11"/>
    <p:sldId id="265" r:id="rId12"/>
    <p:sldId id="266" r:id="rId13"/>
    <p:sldId id="25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07CA-6693-4EDE-828E-E689325105D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5F258-A6E4-430D-A978-C7C237358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73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C4A7-0BAC-2ED3-BD98-86A8AA13C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20347-4D8B-664A-240A-6B3B2E662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9E61-8366-7285-7F8B-9E10BC6F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3081E-5B6B-2C5B-E079-E74AAA56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26E5-AB04-A9DD-A775-444025FC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4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C556-7ECE-B72C-FB52-C7A13C78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45259-814D-41FC-61CC-D08B546E7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0DC29-65FD-8415-1A72-B954181C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1DC0A-B466-30F8-0134-E7036544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C1C7-7B81-AEC8-6779-40F240D0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4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8C16-1703-3307-B492-B62ACCA4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7E2A6-2BA6-D079-7991-9CB08CFEC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ABCF-CCC3-59CC-B7E4-5AF1DF96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5287-21E1-34E6-DA27-0B743106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39F9-EF8E-1BAF-F091-C9230B88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9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0411-A95A-0DE5-B8B8-7DC6FF84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DF18-663B-107C-2CF8-A5CD1E5A8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285E6-5E7D-3630-8EAF-66D116FB4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06AA4-34FD-861F-8461-65F806B2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325C-924C-B83F-F710-ED4F35DA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9D43A-3801-7738-3D0D-DD95DDB9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5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1FB-0E78-4790-1B20-5C7B041B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AC2F7-94F5-FF43-A197-F9C393639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03F5B-8786-8B8D-BA77-72717673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19249E-6A18-A2E9-BA5C-33AEA413B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67487-718D-5659-BAD1-497BB8730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181D8-26F7-AB7B-8B8E-92B1A5D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FE8F6-4AB1-532A-0CC6-1F8CC3D3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A6E57-592A-8BE2-9874-13807DF6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47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8735-65F4-9F01-DB5A-C8FA43B6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18836-1B44-8437-7B1A-AC8A32B9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B6DD0-5F45-57A7-BEEF-74F7C007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0BAAD-7045-3495-4423-F1A58A9C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9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BA564-ECCC-C7C1-123C-C7EA3E89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825F0-5F1A-4566-CA7B-55B676E5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36F89-1CC0-AEFB-DED9-C0A0AA1C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78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2804-E4CF-04E2-66BF-77D0FF39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E6F07-4689-7467-8291-40CC2491C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53162-CF00-D57E-9161-F1B08A471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00729-666E-21C0-CBCE-5D0B1F20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F8DF-A8FC-D4B4-2B5A-62DF7C7B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F0F81-278D-B50A-E0CA-6A3FA074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9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D6F1-3549-5143-C8E5-0B79AE76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4AE6B-1D57-2E0B-A547-727EF60C8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1E468-500B-AF89-D294-D866A7354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86EAF-1591-1111-304B-18BCF0D68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F556-443C-3E4B-E249-2F7A78C3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7C667-CD1C-68E2-5583-1DC78721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89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51CE-BA79-4CD2-6942-6BDB20DC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2605B-69BB-8624-E9E8-2A8F52EED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37A4-0A74-5B27-5F40-4ED343BA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B25B-A0B5-0D02-00C0-1A222B31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1D748-BD8F-C02B-F529-38D10F10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3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52BC8-E3F2-897C-2A71-613DAF481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46C3A-7246-3426-DF56-ADB16D63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40C3F-6319-82B5-C1A7-44076007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3CEB-3291-5526-22A2-92DF8ED1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E322-63AE-E1A8-B2D8-F262A679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8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10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99302-8325-D50B-18ED-0C6D5A97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B57C6-2777-8BB4-9568-9789FD719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9AB8B-7A18-9728-FEB6-BB98DCAB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40EBB-539B-4413-A6A1-3628FBFDD73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A798A-DCB6-AE57-C218-96365A4C9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700D-E671-D21C-854B-BFBA1D0BF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5A8CA-D7D5-4798-9054-B7FA1992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5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9204-D998-06BF-D507-6F758991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6889"/>
            <a:ext cx="9144000" cy="2778826"/>
          </a:xfrm>
        </p:spPr>
        <p:txBody>
          <a:bodyPr>
            <a:normAutofit/>
          </a:bodyPr>
          <a:lstStyle/>
          <a:p>
            <a:r>
              <a:rPr lang="en-IN" sz="3600" dirty="0"/>
              <a:t>Artificial Intelligence and data science</a:t>
            </a:r>
            <a:br>
              <a:rPr lang="en-IN" dirty="0"/>
            </a:br>
            <a:r>
              <a:rPr lang="en-IN" sz="2800" dirty="0"/>
              <a:t>Title of Project – Smart Study Assistant with RAG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7201E-E375-1233-EF8D-F68022A27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4098" y="3348842"/>
            <a:ext cx="9144000" cy="3305958"/>
          </a:xfrm>
        </p:spPr>
        <p:txBody>
          <a:bodyPr>
            <a:noAutofit/>
          </a:bodyPr>
          <a:lstStyle/>
          <a:p>
            <a:r>
              <a:rPr lang="en-IN" sz="1800" dirty="0"/>
              <a:t>Project Group ID-</a:t>
            </a:r>
          </a:p>
          <a:p>
            <a:r>
              <a:rPr lang="en-IN" sz="1800" dirty="0"/>
              <a:t>Team Member – 1) Aniket Sinha</a:t>
            </a:r>
          </a:p>
          <a:p>
            <a:r>
              <a:rPr lang="en-IN" sz="1800" dirty="0"/>
              <a:t>                                        2) </a:t>
            </a:r>
            <a:r>
              <a:rPr lang="en-IN" sz="1800" dirty="0" err="1"/>
              <a:t>Tanishqa</a:t>
            </a:r>
            <a:r>
              <a:rPr lang="en-IN" sz="1800" dirty="0"/>
              <a:t> </a:t>
            </a:r>
            <a:r>
              <a:rPr lang="en-IN" sz="1800" dirty="0" err="1"/>
              <a:t>Sevalkar</a:t>
            </a:r>
            <a:r>
              <a:rPr lang="en-IN" sz="1800" dirty="0"/>
              <a:t> </a:t>
            </a:r>
          </a:p>
          <a:p>
            <a:r>
              <a:rPr lang="en-IN" sz="1800" dirty="0"/>
              <a:t>                             3) Arush Hate</a:t>
            </a:r>
          </a:p>
          <a:p>
            <a:r>
              <a:rPr lang="en-IN" sz="1800" dirty="0"/>
              <a:t>                               4) Sayali </a:t>
            </a:r>
            <a:r>
              <a:rPr lang="en-IN" sz="1800" dirty="0" err="1"/>
              <a:t>Kurale</a:t>
            </a:r>
            <a:endParaRPr lang="en-IN" sz="1800" dirty="0"/>
          </a:p>
          <a:p>
            <a:r>
              <a:rPr lang="en-IN" sz="1800" dirty="0"/>
              <a:t>         Guide Name – Miss Vaishnavi Bhong</a:t>
            </a:r>
          </a:p>
          <a:p>
            <a:endParaRPr lang="en-IN" sz="1800" dirty="0"/>
          </a:p>
          <a:p>
            <a:r>
              <a:rPr lang="en-IN" sz="1800" dirty="0"/>
              <a:t>Date:01-09-2026</a:t>
            </a:r>
          </a:p>
          <a:p>
            <a:endParaRPr lang="en-IN" sz="1800" dirty="0"/>
          </a:p>
        </p:txBody>
      </p:sp>
      <p:pic>
        <p:nvPicPr>
          <p:cNvPr id="4" name="Picture 3" descr="C:\Users\PCU\AppData\Local\Microsoft\Windows\INetCache\Content.MSO\7F5807B9.tmp">
            <a:extLst>
              <a:ext uri="{FF2B5EF4-FFF2-40B4-BE49-F238E27FC236}">
                <a16:creationId xmlns:a16="http://schemas.microsoft.com/office/drawing/2014/main" id="{15BB0AD7-EF73-6AD1-9164-E45659CA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5049" y="570016"/>
            <a:ext cx="8182099" cy="1306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633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3D82-E966-23E8-457D-37EA390A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D1192-C18D-3D45-9D8E-66E4C7B95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892"/>
            <a:ext cx="10515600" cy="4351338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Introduction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Base Paper Details</a:t>
            </a:r>
          </a:p>
          <a:p>
            <a:r>
              <a:rPr lang="en-IN" dirty="0"/>
              <a:t>Literature Survey</a:t>
            </a:r>
          </a:p>
          <a:p>
            <a:r>
              <a:rPr lang="en-IN" dirty="0"/>
              <a:t>Research Gap</a:t>
            </a:r>
          </a:p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84413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96C8-874F-3491-F552-1607610A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484F4-B710-BEE5-B55F-56E5EC5D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iSmartRAG</a:t>
            </a:r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web application that lets students build a personal knowledge base from their own study material — PDFs, Word documents, PowerPoint slides, and websites — and chat with it through a Retrieval-Augmented Generation (RAG) chatbot. Every answer is grounded in the student’s own uploaded content, with citations showing exactly where it came from. Beyond chat, students can auto-generate MCQ quizzes from their material and receive graded, explained feedback, turning it into an active study tool rather than just a search engine.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9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F183-B51D-AAB5-7803-D630C865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C13B-4151-811B-686A-790AAB58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from scattered sources — textbooks, lecture slides, handwritten notes, reference websites — with no unified way to query across all of them.
General-purpose tools like ChatGPT answer from broad training data, not from a student’s specific syllabus or uploaded material, so answers are often generic, unverifiable, or off-topic.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78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A62C-F243-D499-A0A0-B7033FD4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BFF7-A82B-43ED-112D-F430EE965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ingestion pipeline for documents (PDF/DOCX/PPT) and live websites.</a:t>
            </a:r>
            <a:endParaRPr lang="en-US" dirty="0"/>
          </a:p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multi-turn RAG chatbot that answers strictly from retrieved, cited content.</a:t>
            </a:r>
            <a:endParaRPr lang="en-US" dirty="0"/>
          </a:p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auto-generated quizzes with graded, explained feedback for active recall.</a:t>
            </a:r>
            <a:endParaRPr lang="en-US" dirty="0"/>
          </a:p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RAG quality quantitatively using RAGAS (faithfulness, relevancy, recall).</a:t>
            </a:r>
            <a:endParaRPr lang="en-US" dirty="0"/>
          </a:p>
          <a:p>
            <a:r>
              <a:rPr lang="en-US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real, production-grade system with CI/CD and cloud hosting.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25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993D093D-63C5-C645-A5E7-D6C5F981FE40}"/>
              </a:ext>
            </a:extLst>
          </p:cNvPr>
          <p:cNvGrpSpPr/>
          <p:nvPr/>
        </p:nvGrpSpPr>
        <p:grpSpPr>
          <a:xfrm>
            <a:off x="426551" y="-463973"/>
            <a:ext cx="11457432" cy="6455664"/>
            <a:chOff x="457200" y="365760"/>
            <a:chExt cx="11457432" cy="6455664"/>
          </a:xfrm>
        </p:grpSpPr>
        <p:sp>
          <p:nvSpPr>
            <p:cNvPr id="2" name="Text 0"/>
            <p:cNvSpPr/>
            <p:nvPr/>
          </p:nvSpPr>
          <p:spPr>
            <a:xfrm>
              <a:off x="548640" y="36576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3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48640" y="658368"/>
              <a:ext cx="10515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latin typeface="+mj-lt"/>
                  <a:ea typeface="Cambria" pitchFamily="34" charset="-122"/>
                  <a:cs typeface="Cambria" pitchFamily="34" charset="-120"/>
                </a:rPr>
                <a:t>Proposed System Architecture</a:t>
              </a:r>
              <a:endParaRPr lang="en-US" sz="3000" dirty="0">
                <a:latin typeface="+mj-lt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896112" y="2103120"/>
              <a:ext cx="1874520" cy="1965960"/>
            </a:xfrm>
            <a:prstGeom prst="roundRect">
              <a:avLst>
                <a:gd name="adj" fmla="val 3415"/>
              </a:avLst>
            </a:prstGeom>
            <a:solidFill>
              <a:srgbClr val="1E2761"/>
            </a:solidFill>
            <a:ln/>
          </p:spPr>
        </p:sp>
        <p:pic>
          <p:nvPicPr>
            <p:cNvPr id="5" name="Image 0" descr="/home/claude/work/icons/FiFileText_FFFF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4772" y="2304288"/>
              <a:ext cx="457200" cy="45720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987552" y="2880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Ingest</a:t>
              </a:r>
              <a:endParaRPr lang="en-US" sz="13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05840" y="3273552"/>
              <a:ext cx="1655064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PDF / DOCX / PPT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 Website URLs</a:t>
              </a:r>
              <a:endParaRPr lang="en-US" sz="9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2770632" y="2103120"/>
              <a:ext cx="256032" cy="1965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026664" y="2103120"/>
              <a:ext cx="1874520" cy="1965960"/>
            </a:xfrm>
            <a:prstGeom prst="roundRect">
              <a:avLst>
                <a:gd name="adj" fmla="val 3415"/>
              </a:avLst>
            </a:prstGeom>
            <a:solidFill>
              <a:srgbClr val="8B1E2F"/>
            </a:solidFill>
            <a:ln/>
          </p:spPr>
        </p:sp>
        <p:pic>
          <p:nvPicPr>
            <p:cNvPr id="10" name="Image 1" descr="/home/claude/work/icons/FiLayers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5324" y="2304288"/>
              <a:ext cx="457200" cy="45720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118104" y="2880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Chunk</a:t>
              </a:r>
              <a:endParaRPr lang="en-US" sz="135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136392" y="3273552"/>
              <a:ext cx="1655064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split into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overlapping chunks</a:t>
              </a:r>
              <a:endParaRPr lang="en-US" sz="9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901184" y="2103120"/>
              <a:ext cx="256032" cy="1965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5157216" y="2103120"/>
              <a:ext cx="1874520" cy="1965960"/>
            </a:xfrm>
            <a:prstGeom prst="roundRect">
              <a:avLst>
                <a:gd name="adj" fmla="val 3415"/>
              </a:avLst>
            </a:prstGeom>
            <a:solidFill>
              <a:srgbClr val="1E2761"/>
            </a:solidFill>
            <a:ln/>
          </p:spPr>
        </p:sp>
        <p:pic>
          <p:nvPicPr>
            <p:cNvPr id="15" name="Image 2" descr="/home/claude/work/icons/FiCpu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5876" y="2304288"/>
              <a:ext cx="457200" cy="457200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5248656" y="2880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Embed</a:t>
              </a:r>
              <a:endParaRPr lang="en-US" sz="135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5266944" y="3273552"/>
              <a:ext cx="1655064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Chunks embedded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(text-embedding-3-small)</a:t>
              </a:r>
              <a:endParaRPr lang="en-US" sz="95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7031736" y="2103120"/>
              <a:ext cx="256032" cy="1965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7287768" y="2103120"/>
              <a:ext cx="1874520" cy="1965960"/>
            </a:xfrm>
            <a:prstGeom prst="roundRect">
              <a:avLst>
                <a:gd name="adj" fmla="val 3415"/>
              </a:avLst>
            </a:prstGeom>
            <a:solidFill>
              <a:srgbClr val="8B1E2F"/>
            </a:solidFill>
            <a:ln/>
          </p:spPr>
        </p:sp>
        <p:pic>
          <p:nvPicPr>
            <p:cNvPr id="20" name="Image 3" descr="/home/claude/work/icons/FiDatabase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6428" y="2304288"/>
              <a:ext cx="457200" cy="457200"/>
            </a:xfrm>
            <a:prstGeom prst="rect">
              <a:avLst/>
            </a:prstGeom>
          </p:spPr>
        </p:pic>
        <p:sp>
          <p:nvSpPr>
            <p:cNvPr id="21" name="Text 15"/>
            <p:cNvSpPr/>
            <p:nvPr/>
          </p:nvSpPr>
          <p:spPr>
            <a:xfrm>
              <a:off x="7379208" y="2880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Store</a:t>
              </a:r>
              <a:endParaRPr lang="en-US" sz="1350" dirty="0"/>
            </a:p>
          </p:txBody>
        </p:sp>
        <p:sp>
          <p:nvSpPr>
            <p:cNvPr id="22" name="Text 16"/>
            <p:cNvSpPr/>
            <p:nvPr/>
          </p:nvSpPr>
          <p:spPr>
            <a:xfrm>
              <a:off x="7397496" y="3273552"/>
              <a:ext cx="1655064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Per-user vectors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ChromaDB</a:t>
              </a:r>
              <a:endParaRPr lang="en-US" sz="95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9162288" y="2103120"/>
              <a:ext cx="256032" cy="1965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200" dirty="0"/>
            </a:p>
          </p:txBody>
        </p:sp>
        <p:sp>
          <p:nvSpPr>
            <p:cNvPr id="24" name="Shape 18"/>
            <p:cNvSpPr/>
            <p:nvPr/>
          </p:nvSpPr>
          <p:spPr>
            <a:xfrm>
              <a:off x="9418320" y="2103120"/>
              <a:ext cx="1874520" cy="1965960"/>
            </a:xfrm>
            <a:prstGeom prst="roundRect">
              <a:avLst>
                <a:gd name="adj" fmla="val 3415"/>
              </a:avLst>
            </a:prstGeom>
            <a:solidFill>
              <a:srgbClr val="1E2761"/>
            </a:solidFill>
            <a:ln/>
          </p:spPr>
        </p:sp>
        <p:pic>
          <p:nvPicPr>
            <p:cNvPr id="25" name="Image 4" descr="/home/claude/work/icons/FiMessageSquare_FFFFFF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26980" y="2304288"/>
              <a:ext cx="457200" cy="457200"/>
            </a:xfrm>
            <a:prstGeom prst="rect">
              <a:avLst/>
            </a:prstGeom>
          </p:spPr>
        </p:pic>
        <p:sp>
          <p:nvSpPr>
            <p:cNvPr id="26" name="Text 19"/>
            <p:cNvSpPr/>
            <p:nvPr/>
          </p:nvSpPr>
          <p:spPr>
            <a:xfrm>
              <a:off x="9509760" y="2880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Retrieve &amp; Answer</a:t>
              </a:r>
              <a:endParaRPr lang="en-US" sz="1350" dirty="0"/>
            </a:p>
          </p:txBody>
        </p:sp>
        <p:sp>
          <p:nvSpPr>
            <p:cNvPr id="27" name="Text 20"/>
            <p:cNvSpPr/>
            <p:nvPr/>
          </p:nvSpPr>
          <p:spPr>
            <a:xfrm>
              <a:off x="9528048" y="3273552"/>
              <a:ext cx="1655064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Top-k retrieval →</a:t>
              </a:r>
              <a:endParaRPr lang="en-US" sz="950" dirty="0"/>
            </a:p>
            <a:p>
              <a:pPr marL="0" indent="0" algn="ctr">
                <a:buNone/>
              </a:pPr>
              <a:r>
                <a:rPr lang="en-US" sz="95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GPT-4o-mini + citations</a:t>
              </a:r>
              <a:endParaRPr lang="en-US" sz="950" dirty="0"/>
            </a:p>
          </p:txBody>
        </p:sp>
        <p:sp>
          <p:nvSpPr>
            <p:cNvPr id="31" name="Text 23"/>
            <p:cNvSpPr/>
            <p:nvPr/>
          </p:nvSpPr>
          <p:spPr>
            <a:xfrm>
              <a:off x="1325880" y="5349240"/>
              <a:ext cx="18516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50" dirty="0"/>
            </a:p>
          </p:txBody>
        </p:sp>
        <p:sp>
          <p:nvSpPr>
            <p:cNvPr id="33" name="Text 24"/>
            <p:cNvSpPr/>
            <p:nvPr/>
          </p:nvSpPr>
          <p:spPr>
            <a:xfrm>
              <a:off x="4091940" y="5349240"/>
              <a:ext cx="18516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50" dirty="0"/>
            </a:p>
          </p:txBody>
        </p:sp>
        <p:sp>
          <p:nvSpPr>
            <p:cNvPr id="35" name="Text 25"/>
            <p:cNvSpPr/>
            <p:nvPr/>
          </p:nvSpPr>
          <p:spPr>
            <a:xfrm>
              <a:off x="6858000" y="5349240"/>
              <a:ext cx="18516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50" dirty="0"/>
            </a:p>
          </p:txBody>
        </p:sp>
        <p:sp>
          <p:nvSpPr>
            <p:cNvPr id="37" name="Text 26"/>
            <p:cNvSpPr/>
            <p:nvPr/>
          </p:nvSpPr>
          <p:spPr>
            <a:xfrm>
              <a:off x="9624060" y="5349240"/>
              <a:ext cx="18516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50" dirty="0"/>
            </a:p>
          </p:txBody>
        </p:sp>
        <p:sp>
          <p:nvSpPr>
            <p:cNvPr id="38" name="Text 27"/>
            <p:cNvSpPr/>
            <p:nvPr/>
          </p:nvSpPr>
          <p:spPr>
            <a:xfrm>
              <a:off x="457200" y="6547104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endParaRPr lang="en-US" sz="900" dirty="0"/>
            </a:p>
          </p:txBody>
        </p:sp>
        <p:sp>
          <p:nvSpPr>
            <p:cNvPr id="39" name="Text 28"/>
            <p:cNvSpPr/>
            <p:nvPr/>
          </p:nvSpPr>
          <p:spPr>
            <a:xfrm>
              <a:off x="11548872" y="6547104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5B62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0D99F622-5DF3-3783-D8BA-28D9585D11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967006" y="3358219"/>
            <a:ext cx="6164633" cy="3330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91640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0248" y="1600200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471416" y="1691640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71416" y="1965960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1600200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193024" y="1691640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93024" y="1965960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BeautifulSoup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43784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118104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0248" y="2752344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4471416" y="2843784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71416" y="3118104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99592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4270248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70248" y="3904488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399592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71416" y="4270248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91856" y="3904488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8193024" y="399592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93024" y="4270248"/>
            <a:ext cx="3227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Always Free (ARM VM)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15226" y="2752344"/>
            <a:ext cx="3593592" cy="1024128"/>
          </a:xfrm>
          <a:prstGeom prst="roundRect">
            <a:avLst>
              <a:gd name="adj" fmla="val 446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198240-B684-DC52-B870-D3F5CD633BFE}"/>
              </a:ext>
            </a:extLst>
          </p:cNvPr>
          <p:cNvGrpSpPr/>
          <p:nvPr/>
        </p:nvGrpSpPr>
        <p:grpSpPr>
          <a:xfrm>
            <a:off x="8174736" y="2830068"/>
            <a:ext cx="3227832" cy="868680"/>
            <a:chOff x="8193024" y="5148072"/>
            <a:chExt cx="3227832" cy="868680"/>
          </a:xfrm>
        </p:grpSpPr>
        <p:sp>
          <p:nvSpPr>
            <p:cNvPr id="38" name="Text 36"/>
            <p:cNvSpPr/>
            <p:nvPr/>
          </p:nvSpPr>
          <p:spPr>
            <a:xfrm>
              <a:off x="8193024" y="5148072"/>
              <a:ext cx="32278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8B1E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EVALUATION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193024" y="5422392"/>
              <a:ext cx="3227832" cy="5943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41B4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RAGAS (faithfulness, relevancy, recall)</a:t>
              </a:r>
              <a:endParaRPr lang="en-US" sz="1250" dirty="0"/>
            </a:p>
          </p:txBody>
        </p:sp>
      </p:grpSp>
      <p:sp>
        <p:nvSpPr>
          <p:cNvPr id="40" name="Text 3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iSmartRAG — Major Project Review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48872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658E0-2866-C794-F93F-04924CD8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9879" y="4032779"/>
            <a:ext cx="7912242" cy="2080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180DEC-FEED-52A7-1548-ADE7B439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0333" y="280987"/>
            <a:ext cx="8525934" cy="32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1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7891-05F7-32B6-476B-CFBD4553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 Paper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7D8-DC41-647C-84C5-3A4593F3E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8975"/>
          </a:xfrm>
        </p:spPr>
        <p:txBody>
          <a:bodyPr>
            <a:noAutofit/>
          </a:bodyPr>
          <a:lstStyle/>
          <a:p>
            <a:r>
              <a:rPr lang="en-IN" sz="1200" b="1" dirty="0"/>
              <a:t>Paper 1 — RAG for Knowledge-Intensive NLP Tasks (2020</a:t>
            </a:r>
            <a:r>
              <a:rPr lang="en-IN" sz="1200" dirty="0"/>
              <a:t>)- This is the original paper that invented RAG. The idea: instead of an AI trying to remember everything on its own, let it look up information from a document store before answering — like an open-book exam instead of relying on memory. It worked better than AI models that only used their own memory.</a:t>
            </a:r>
          </a:p>
          <a:p>
            <a:r>
              <a:rPr lang="en-IN" sz="1200" b="1" dirty="0"/>
              <a:t>Paper 2 — Chatbots in Academia (2024) </a:t>
            </a:r>
            <a:r>
              <a:rPr lang="en-IN" sz="1200" dirty="0"/>
              <a:t>- Built a chatbot for a college/university that looks up relevant documents before answering, and also remembers what was said earlier in the chat so it can handle follow-up questions.</a:t>
            </a:r>
          </a:p>
          <a:p>
            <a:r>
              <a:rPr lang="en-IN" sz="1200" b="1" dirty="0"/>
              <a:t>Paper 3 — Benchmarking RAG Frameworks (2025) </a:t>
            </a:r>
            <a:r>
              <a:rPr lang="en-IN" sz="1200" dirty="0"/>
              <a:t>- Made a chatbot to help students prepare for the GATE exam. The main point of this paper is that they tested many different combinations of tools (which "search" method + which AI model) to find out which combo gives the best answers without being too slow.</a:t>
            </a:r>
          </a:p>
          <a:p>
            <a:r>
              <a:rPr lang="en-IN" sz="1200" b="1" dirty="0"/>
              <a:t>Paper 4 — RAG Chatbots for Education: A Survey (2025) </a:t>
            </a:r>
            <a:r>
              <a:rPr lang="en-IN" sz="1200" dirty="0"/>
              <a:t>- Not a new chatbot — just a big review of 47 other papers about education chatbots. It sums up patterns: who these chatbots help (students/teachers), what they're built with, and confirms that this look-up-before-answering approach is the standard way to stop chatbots from making things up.</a:t>
            </a:r>
          </a:p>
          <a:p>
            <a:r>
              <a:rPr lang="en-IN" sz="1200" b="1" dirty="0"/>
              <a:t>Paper 5 — Smart Web Scraping with Crawl4AI (2025)</a:t>
            </a:r>
            <a:r>
              <a:rPr lang="en-IN" sz="1200" dirty="0"/>
              <a:t> - Instead of using fixed documents, this system pulls information directly from live web pages. It scrapes a webpage, breaks the text into small chunks, and uses those chunks to answer question</a:t>
            </a:r>
          </a:p>
          <a:p>
            <a:r>
              <a:rPr lang="en-IN" sz="1200" b="1" dirty="0"/>
              <a:t>Paper 6 — RAG for E-Commerce Customer Support (2024</a:t>
            </a:r>
            <a:r>
              <a:rPr lang="en-IN" sz="1200" dirty="0"/>
              <a:t>) - Applied the same look-up-before-answering idea to an online store's chatbot — it checks product info, FAQs, and reviews before replying, so it gives correct, up-to-date answers instead of generic ones</a:t>
            </a:r>
          </a:p>
          <a:p>
            <a:r>
              <a:rPr lang="en-IN" sz="1200" b="1" dirty="0"/>
              <a:t>Paper 7 — Multi-Document Question Answering (2026) </a:t>
            </a:r>
            <a:r>
              <a:rPr lang="en-IN" sz="1200" dirty="0"/>
              <a:t>- Proposes a chatbot that can pull answers from several documents at once (not just one file) to answer a single question.  Very new paper — not fully verified, so double-check before quoting numbers from it.</a:t>
            </a:r>
          </a:p>
          <a:p>
            <a:r>
              <a:rPr lang="en-IN" sz="1200" b="1" dirty="0"/>
              <a:t>Paper 8 — RAGAS: Automated Evaluation (2024) </a:t>
            </a:r>
            <a:r>
              <a:rPr lang="en-IN" sz="1200" dirty="0"/>
              <a:t>- This paper isn't about building a chatbot — it's about grading one. It gives three simple tests to check chatbot quality: (1) Did it stick to facts from the source? (2) Did it actually answer the question? (3) Did it look up the right information in the first place?</a:t>
            </a:r>
          </a:p>
          <a:p>
            <a:pPr marL="0" indent="0">
              <a:buNone/>
            </a:pPr>
            <a:br>
              <a:rPr lang="en-IN" sz="1200" dirty="0"/>
            </a:br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2846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CFC6-6C12-F8F1-F935-4A15DBCBC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5CA806-6AC8-E087-B783-4EB0CC539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699129"/>
              </p:ext>
            </p:extLst>
          </p:nvPr>
        </p:nvGraphicFramePr>
        <p:xfrm>
          <a:off x="838200" y="1397000"/>
          <a:ext cx="10430934" cy="4952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6978">
                  <a:extLst>
                    <a:ext uri="{9D8B030D-6E8A-4147-A177-3AD203B41FA5}">
                      <a16:colId xmlns:a16="http://schemas.microsoft.com/office/drawing/2014/main" val="2579157044"/>
                    </a:ext>
                  </a:extLst>
                </a:gridCol>
                <a:gridCol w="3476978">
                  <a:extLst>
                    <a:ext uri="{9D8B030D-6E8A-4147-A177-3AD203B41FA5}">
                      <a16:colId xmlns:a16="http://schemas.microsoft.com/office/drawing/2014/main" val="3778175246"/>
                    </a:ext>
                  </a:extLst>
                </a:gridCol>
                <a:gridCol w="3476978">
                  <a:extLst>
                    <a:ext uri="{9D8B030D-6E8A-4147-A177-3AD203B41FA5}">
                      <a16:colId xmlns:a16="http://schemas.microsoft.com/office/drawing/2014/main" val="3795296184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Paper / Year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Approach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Key Findings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82400394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Lewis et al. (2020) – Retrieval-Augmented Generation for Knowledge-Intensive NLP Tasks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Introduced RAG by combining retrieval with text generation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Retrieval improves factuality and performance on knowledge-intensive tasks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052742824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Maryamah et al. (2024) – Chatbots in Academia: A RAG Approach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RAG-based academic chatbot with conversational memory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Enables context-aware question answering from academic documents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31494396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Towards Efficient Educational Chatbots (2025)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Benchmarked different RAG frameworks and model combinations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Shows that retrieval strategy and model selection affect answer quality and efficiency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10898828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RAG Chatbots for Education: A Survey (2025)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Survey of RAG-based educational chatbots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Identifies RAG as an effective approach for reducing hallucination in educational applications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556211567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RAG Based Smart Web Scraping using Crawl4AI (2025)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Extracts and chunks information from live websites for RAG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Demonstrates that web content can be incorporated into retrieval-based QA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930158992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RAGAS: Automated Evaluation (2024)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Framework for evaluating RAG systems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Provides metrics such as faithfulness, answer relevancy and context recall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18541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29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2C92-CABF-DD23-2CA2-5ABD5C76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Gap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207B-DB47-8483-A08B-829E48859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200" b="1" dirty="0"/>
              <a:t>Existing Systems</a:t>
            </a:r>
          </a:p>
          <a:p>
            <a:pPr lvl="0"/>
            <a:r>
              <a:rPr lang="en-IN" sz="2100" dirty="0"/>
              <a:t>Most RAG-based educational chatbots focus primarily on question answering from a limited document set. </a:t>
            </a:r>
          </a:p>
          <a:p>
            <a:pPr lvl="0"/>
            <a:r>
              <a:rPr lang="en-IN" sz="2100" dirty="0"/>
              <a:t>Existing approaches generally handle documents or web content separately, rather than providing a unified knowledge base. </a:t>
            </a:r>
          </a:p>
          <a:p>
            <a:pPr lvl="0"/>
            <a:r>
              <a:rPr lang="en-IN" sz="2100" dirty="0"/>
              <a:t>Limited support for ingesting multiple study-material formats such as PDF, DOCX, PPT, and websites in one system. </a:t>
            </a:r>
          </a:p>
          <a:p>
            <a:pPr lvl="0"/>
            <a:r>
              <a:rPr lang="en-IN" sz="2100" dirty="0"/>
              <a:t>Many systems focus on answering questions but do not integrate active-learning features such as automatic quiz generation and feedback. </a:t>
            </a:r>
          </a:p>
          <a:p>
            <a:pPr lvl="0"/>
            <a:r>
              <a:rPr lang="en-IN" sz="2100" dirty="0"/>
              <a:t>RAG evaluation is not consistently integrated into the application using quantitative metrics such as faithfulness, relevancy, and recall. </a:t>
            </a:r>
          </a:p>
          <a:p>
            <a:r>
              <a:rPr lang="en-IN" sz="2200" b="1" dirty="0"/>
              <a:t>Identified Research Gap</a:t>
            </a:r>
          </a:p>
          <a:p>
            <a:r>
              <a:rPr lang="en-IN" sz="1900" dirty="0"/>
              <a:t>There is a need for a unified, student-centric RAG system that can combine multi-format study materials and web sources, provide citation-grounded conversational answers, generate quizzes for active learning, and quantitatively evaluate response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24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62B0-828E-571A-05BF-2DBF85F8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2F417-619C-3E54-3BC7-1D613789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6467" cy="466725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P. et al. (2020). Retrieval-Augmented Generation for Knowledge-Intensive NLP Tasks. arXiv:2005.11401.</a:t>
            </a:r>
            <a:endParaRPr lang="en-US" sz="2000" dirty="0"/>
          </a:p>
          <a:p>
            <a:r>
              <a:rPr lang="en-US" sz="2000" dirty="0" err="1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Maryamah</a:t>
            </a:r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 (2024). Chatbots in Academia: A RAG Approach for Improved Efficient Information Access. IEEE KST 2024.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(2025). Towards Efficient Educational Chatbots: Benchmarking RAG Frameworks. arXiv:2503.00781.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(2025). Retrieval-Augmented Generation (RAG) Chatbots for Education: A Survey of Applications. ResearchGate.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(2025). RAG Based Implementation for Smart Web Scraping using Crawl4AI. ResearchGate.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(2025). RAG Based Implementation for Smart Web Scraping using Crawl4AI. ResearchGate.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(2026). Enhanced RAG Framework for Intelligent Multi-Document Question Answering. RSIS International.</a:t>
            </a:r>
            <a:endParaRPr lang="en-US" sz="2000" dirty="0"/>
          </a:p>
          <a:p>
            <a:r>
              <a:rPr lang="en-US" sz="2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S. et al. (2024). RAGAS: Automated Evaluation of Retrieval Augmented Generation. EACL 2024. arXiv:2309.15217.</a:t>
            </a: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28272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C0B1-AD6B-A035-1CA7-2C568487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Base Paper Details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1F44-8D6F-4907-D5E8-B5D065BD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Paper Title </a:t>
            </a:r>
          </a:p>
          <a:p>
            <a:r>
              <a:rPr lang="en-IN" dirty="0"/>
              <a:t>Authors </a:t>
            </a:r>
          </a:p>
          <a:p>
            <a:r>
              <a:rPr lang="en-IN" dirty="0"/>
              <a:t>Journal/Conference Name </a:t>
            </a:r>
          </a:p>
          <a:p>
            <a:r>
              <a:rPr lang="en-IN" dirty="0"/>
              <a:t>Publisher (IEEE/Elsevier/Springer, etc.) </a:t>
            </a:r>
          </a:p>
          <a:p>
            <a:r>
              <a:rPr lang="en-IN" dirty="0"/>
              <a:t>Year of Publication </a:t>
            </a:r>
          </a:p>
          <a:p>
            <a:r>
              <a:rPr lang="en-IN" dirty="0"/>
              <a:t>Indexing (Scopus, </a:t>
            </a:r>
            <a:r>
              <a:rPr lang="en-IN" dirty="0" err="1"/>
              <a:t>WoS</a:t>
            </a:r>
            <a:r>
              <a:rPr lang="en-IN" dirty="0"/>
              <a:t>, etc.) </a:t>
            </a:r>
          </a:p>
          <a:p>
            <a:r>
              <a:rPr lang="en-IN" dirty="0"/>
              <a:t>DOI (if available)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639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C475-A1A2-97CE-38BF-1C901BDC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Tips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536F-A5EA-CE4E-E9C4-B755EF4F8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Keep the presentation within </a:t>
            </a:r>
            <a:r>
              <a:rPr lang="en-US" b="1" dirty="0"/>
              <a:t>10–12 slides</a:t>
            </a:r>
            <a:r>
              <a:rPr lang="en-US" dirty="0"/>
              <a:t>. </a:t>
            </a:r>
          </a:p>
          <a:p>
            <a:r>
              <a:rPr lang="en-US" dirty="0"/>
              <a:t>Use bullet points instead of long paragraphs. </a:t>
            </a:r>
          </a:p>
          <a:p>
            <a:r>
              <a:rPr lang="en-US" dirty="0"/>
              <a:t>Include diagrams, flowcharts, and tables where appropriate. </a:t>
            </a:r>
          </a:p>
          <a:p>
            <a:r>
              <a:rPr lang="en-US" dirty="0"/>
              <a:t>Ensure all references are from reputed sources such as </a:t>
            </a:r>
            <a:r>
              <a:rPr lang="en-US" b="1" dirty="0"/>
              <a:t>Scopus, IEEE Xplore, ScienceDirect, Web of Science (</a:t>
            </a:r>
            <a:r>
              <a:rPr lang="en-US" b="1" dirty="0" err="1"/>
              <a:t>WoS</a:t>
            </a:r>
            <a:r>
              <a:rPr lang="en-US" b="1" dirty="0"/>
              <a:t>), Springer, or ACM etc.</a:t>
            </a:r>
            <a:r>
              <a:rPr lang="en-US" dirty="0"/>
              <a:t> </a:t>
            </a:r>
          </a:p>
          <a:p>
            <a:r>
              <a:rPr lang="en-US" dirty="0"/>
              <a:t>Be prepared to explain: </a:t>
            </a:r>
          </a:p>
          <a:p>
            <a:pPr lvl="1"/>
            <a:r>
              <a:rPr lang="en-US" dirty="0"/>
              <a:t>Why you selected the topic. </a:t>
            </a:r>
          </a:p>
          <a:p>
            <a:pPr lvl="1"/>
            <a:r>
              <a:rPr lang="en-US" dirty="0"/>
              <a:t>Why you chose the base paper. </a:t>
            </a:r>
          </a:p>
          <a:p>
            <a:pPr lvl="1"/>
            <a:r>
              <a:rPr lang="en-US" dirty="0"/>
              <a:t>What research gap you identified. </a:t>
            </a:r>
          </a:p>
          <a:p>
            <a:pPr lvl="1"/>
            <a:r>
              <a:rPr lang="en-US" dirty="0"/>
              <a:t>How your proposed work differs from existing approaches.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04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1450</Words>
  <Application>Microsoft Office PowerPoint</Application>
  <PresentationFormat>Widescreen</PresentationFormat>
  <Paragraphs>141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</vt:lpstr>
      <vt:lpstr>Office Theme</vt:lpstr>
      <vt:lpstr>Artificial Intelligence and data science Title of Project – Smart Study Assistant with RAG Chatbot</vt:lpstr>
      <vt:lpstr>Content:</vt:lpstr>
      <vt:lpstr>Introduction </vt:lpstr>
      <vt:lpstr>Problem Statement </vt:lpstr>
      <vt:lpstr>Objectives </vt:lpstr>
      <vt:lpstr>PowerPoint Presentation</vt:lpstr>
      <vt:lpstr>PowerPoint Presentation</vt:lpstr>
      <vt:lpstr>PowerPoint Presentation</vt:lpstr>
      <vt:lpstr>Base Paper Details</vt:lpstr>
      <vt:lpstr>Literature Survey </vt:lpstr>
      <vt:lpstr>Research Gap </vt:lpstr>
      <vt:lpstr>References </vt:lpstr>
      <vt:lpstr>Base Paper Details </vt:lpstr>
      <vt:lpstr>Presentation Tips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RCK Analytics</cp:lastModifiedBy>
  <cp:revision>4</cp:revision>
  <dcterms:created xsi:type="dcterms:W3CDTF">2026-08-06T08:35:21Z</dcterms:created>
  <dcterms:modified xsi:type="dcterms:W3CDTF">2026-09-01T06:58:51Z</dcterms:modified>
</cp:coreProperties>
</file>